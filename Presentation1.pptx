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1284"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959727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4164978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29360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D8D078A-3FE2-4EB9-8498-BEA902FA77E7}" type="datetimeFigureOut">
              <a:rPr lang="vi-VN" smtClean="0"/>
              <a:t>11/10/2026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394205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D8D078A-3FE2-4EB9-8498-BEA902FA77E7}" type="datetimeFigureOut">
              <a:rPr lang="vi-VN" smtClean="0"/>
              <a:t>11/10/2026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241320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3"/>
          <p:cNvSpPr>
            <a:spLocks noGrp="1"/>
          </p:cNvSpPr>
          <p:nvPr>
            <p:ph type="ftr" sz="quarter" idx="11"/>
          </p:nvPr>
        </p:nvSpPr>
        <p:spPr/>
        <p:txBody>
          <a:bodyPr/>
          <a:lstStyle/>
          <a:p>
            <a:endParaRPr lang="vi-VN"/>
          </a:p>
        </p:txBody>
      </p:sp>
      <p:sp>
        <p:nvSpPr>
          <p:cNvPr id="6" name="Slide Number Placeholder 4"/>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3160939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2"/>
          <p:cNvSpPr>
            <a:spLocks noGrp="1"/>
          </p:cNvSpPr>
          <p:nvPr>
            <p:ph type="ftr" sz="quarter" idx="11"/>
          </p:nvPr>
        </p:nvSpPr>
        <p:spPr/>
        <p:txBody>
          <a:bodyPr/>
          <a:lstStyle/>
          <a:p>
            <a:endParaRPr lang="vi-VN"/>
          </a:p>
        </p:txBody>
      </p:sp>
      <p:sp>
        <p:nvSpPr>
          <p:cNvPr id="6" name="Slide Number Placeholder 3"/>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32271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5"/>
          <p:cNvSpPr>
            <a:spLocks noGrp="1"/>
          </p:cNvSpPr>
          <p:nvPr>
            <p:ph type="ftr" sz="quarter" idx="11"/>
          </p:nvPr>
        </p:nvSpPr>
        <p:spPr/>
        <p:txBody>
          <a:bodyPr/>
          <a:lstStyle/>
          <a:p>
            <a:endParaRPr lang="vi-VN"/>
          </a:p>
        </p:txBody>
      </p:sp>
      <p:sp>
        <p:nvSpPr>
          <p:cNvPr id="6" name="Slide Number Placeholder 6"/>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322958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D8D078A-3FE2-4EB9-8498-BEA902FA77E7}" type="datetimeFigureOut">
              <a:rPr lang="vi-VN" smtClean="0"/>
              <a:t>11/10/2026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333149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D8D078A-3FE2-4EB9-8498-BEA902FA77E7}" type="datetimeFigureOut">
              <a:rPr lang="vi-VN" smtClean="0"/>
              <a:t>11/10/2026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2338350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679307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61053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4225371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4"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22138298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4"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2957436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958541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8D078A-3FE2-4EB9-8498-BEA902FA77E7}" type="datetimeFigureOut">
              <a:rPr lang="vi-VN" smtClean="0"/>
              <a:t>11/10/2026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DA9E11DA-D9B6-4EE8-8F80-0FCBBDB74E1F}" type="slidenum">
              <a:rPr lang="vi-VN" smtClean="0"/>
              <a:t>‹#›</a:t>
            </a:fld>
            <a:endParaRPr lang="vi-VN"/>
          </a:p>
        </p:txBody>
      </p:sp>
    </p:spTree>
    <p:extLst>
      <p:ext uri="{BB962C8B-B14F-4D97-AF65-F5344CB8AC3E}">
        <p14:creationId xmlns:p14="http://schemas.microsoft.com/office/powerpoint/2010/main" val="4078808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D8D078A-3FE2-4EB9-8498-BEA902FA77E7}" type="datetimeFigureOut">
              <a:rPr lang="vi-VN" smtClean="0"/>
              <a:t>11/10/2026</a:t>
            </a:fld>
            <a:endParaRPr lang="vi-V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vi-V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A9E11DA-D9B6-4EE8-8F80-0FCBBDB74E1F}" type="slidenum">
              <a:rPr lang="vi-VN" smtClean="0"/>
              <a:t>‹#›</a:t>
            </a:fld>
            <a:endParaRPr lang="vi-VN"/>
          </a:p>
        </p:txBody>
      </p:sp>
    </p:spTree>
    <p:extLst>
      <p:ext uri="{BB962C8B-B14F-4D97-AF65-F5344CB8AC3E}">
        <p14:creationId xmlns:p14="http://schemas.microsoft.com/office/powerpoint/2010/main" val="17816822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vi-VN" dirty="0"/>
          </a:p>
        </p:txBody>
      </p:sp>
      <p:sp>
        <p:nvSpPr>
          <p:cNvPr id="3" name="Subtitle 2"/>
          <p:cNvSpPr>
            <a:spLocks noGrp="1"/>
          </p:cNvSpPr>
          <p:nvPr>
            <p:ph type="subTitle" idx="1"/>
          </p:nvPr>
        </p:nvSpPr>
        <p:spPr/>
        <p:txBody>
          <a:bodyPr/>
          <a:lstStyle/>
          <a:p>
            <a:endParaRPr lang="vi-VN"/>
          </a:p>
        </p:txBody>
      </p:sp>
      <p:pic>
        <p:nvPicPr>
          <p:cNvPr id="1026" name="Picture 2" descr="Việt Nam sắp khởi công thêm một nhà máy thuỷ điện mới, vốn gần 28.000 tỷ, tọa lạc tại tỉnh rộng nhất miền Bắ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30176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8690" y="-822036"/>
            <a:ext cx="13503564" cy="83034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p:txBody>
          <a:bodyPr/>
          <a:lstStyle/>
          <a:p>
            <a:endParaRPr lang="vi-VN"/>
          </a:p>
        </p:txBody>
      </p:sp>
      <p:pic>
        <p:nvPicPr>
          <p:cNvPr id="2050" name="Picture 2" descr="Năng lượng tái tạo là gì? Vai trò của năng lượng tái tạo - Prim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2638" y="0"/>
            <a:ext cx="765027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983510"/>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3074" name="Picture 2" descr="Giới thiệu phòng Năng Lượng Tái Tạo tại PECC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94671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Data 3"/>
          <p:cNvSpPr/>
          <p:nvPr/>
        </p:nvSpPr>
        <p:spPr>
          <a:xfrm>
            <a:off x="-988292" y="0"/>
            <a:ext cx="4978400" cy="6858000"/>
          </a:xfrm>
          <a:prstGeom prst="flowChartInputOutpu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Flowchart: Data 4"/>
          <p:cNvSpPr/>
          <p:nvPr/>
        </p:nvSpPr>
        <p:spPr>
          <a:xfrm>
            <a:off x="2969490" y="0"/>
            <a:ext cx="4978400" cy="6858000"/>
          </a:xfrm>
          <a:prstGeom prst="flowChartInputOutpu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p:txBody>
          <a:bodyPr/>
          <a:lstStyle/>
          <a:p>
            <a:endParaRPr lang="vi-VN" dirty="0"/>
          </a:p>
        </p:txBody>
      </p:sp>
      <p:sp>
        <p:nvSpPr>
          <p:cNvPr id="3" name="Content Placeholder 2"/>
          <p:cNvSpPr>
            <a:spLocks noGrp="1"/>
          </p:cNvSpPr>
          <p:nvPr>
            <p:ph idx="1"/>
          </p:nvPr>
        </p:nvSpPr>
        <p:spPr/>
        <p:txBody>
          <a:bodyPr>
            <a:normAutofit/>
          </a:bodyPr>
          <a:lstStyle/>
          <a:p>
            <a:pPr marL="0" indent="0" algn="ctr">
              <a:buNone/>
            </a:pPr>
            <a:r>
              <a:rPr lang="vi-VN" sz="4400" dirty="0" smtClean="0">
                <a:solidFill>
                  <a:schemeClr val="accent6">
                    <a:lumMod val="20000"/>
                    <a:lumOff val="80000"/>
                  </a:schemeClr>
                </a:solidFill>
              </a:rPr>
              <a:t>BÀI THUYẾT TRÌNH: NĂNG LƯỢNG TÁI TẠO VÀ TƯƠNG LAI XANH</a:t>
            </a:r>
            <a:endParaRPr lang="vi-VN" sz="4400" dirty="0">
              <a:solidFill>
                <a:schemeClr val="accent6">
                  <a:lumMod val="20000"/>
                  <a:lumOff val="80000"/>
                </a:schemeClr>
              </a:solidFill>
            </a:endParaRPr>
          </a:p>
        </p:txBody>
      </p:sp>
      <p:sp>
        <p:nvSpPr>
          <p:cNvPr id="7" name="Flowchart: Data 6"/>
          <p:cNvSpPr/>
          <p:nvPr/>
        </p:nvSpPr>
        <p:spPr>
          <a:xfrm>
            <a:off x="10940400" y="0"/>
            <a:ext cx="4978400" cy="6858000"/>
          </a:xfrm>
          <a:prstGeom prst="flowChartInputOutpu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186146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309" y="-203200"/>
            <a:ext cx="12321309" cy="7148945"/>
          </a:xfrm>
          <a:prstGeom prst="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p:txBody>
          <a:bodyPr/>
          <a:lstStyle/>
          <a:p>
            <a:r>
              <a:rPr lang="vi-VN" dirty="0" smtClean="0">
                <a:solidFill>
                  <a:schemeClr val="tx1"/>
                </a:solidFill>
              </a:rPr>
              <a:t>1.Năng lượng tái tạo là gì?</a:t>
            </a:r>
            <a:endParaRPr lang="vi-VN" dirty="0">
              <a:solidFill>
                <a:schemeClr val="tx1"/>
              </a:solidFill>
            </a:endParaRPr>
          </a:p>
        </p:txBody>
      </p:sp>
      <p:sp>
        <p:nvSpPr>
          <p:cNvPr id="3" name="Content Placeholder 2"/>
          <p:cNvSpPr>
            <a:spLocks noGrp="1"/>
          </p:cNvSpPr>
          <p:nvPr>
            <p:ph idx="1"/>
          </p:nvPr>
        </p:nvSpPr>
        <p:spPr/>
        <p:txBody>
          <a:bodyPr>
            <a:normAutofit/>
          </a:bodyPr>
          <a:lstStyle/>
          <a:p>
            <a:r>
              <a:rPr lang="vi-VN" sz="3200" b="1" dirty="0"/>
              <a:t>Năng lượng tái tạo</a:t>
            </a:r>
            <a:r>
              <a:rPr lang="vi-VN" sz="3200" dirty="0" smtClean="0"/>
              <a:t> (hay năng lượng tái sinh) là nguồn năng lượng được khai thác từ các quá trình tự nhiên có khả năng bổ sung liên tục và được xem là vô hạn ở quy mô con người.</a:t>
            </a:r>
          </a:p>
          <a:p>
            <a:r>
              <a:rPr lang="vi-VN" sz="3200" dirty="0" smtClean="0"/>
              <a:t>VD:ánh sáng mặt trời, gió, nước,...</a:t>
            </a:r>
            <a:endParaRPr lang="vi-VN" sz="3200" dirty="0"/>
          </a:p>
        </p:txBody>
      </p:sp>
      <p:sp>
        <p:nvSpPr>
          <p:cNvPr id="6" name="Down Arrow 5"/>
          <p:cNvSpPr/>
          <p:nvPr/>
        </p:nvSpPr>
        <p:spPr>
          <a:xfrm rot="7569322">
            <a:off x="8698420" y="3369302"/>
            <a:ext cx="2512291" cy="3706464"/>
          </a:xfrm>
          <a:prstGeom prst="down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510505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vi-VN" sz="4000" dirty="0" smtClean="0"/>
              <a:t>Một số loại năng lượng tái tạo phổ biến:</a:t>
            </a:r>
            <a:endParaRPr lang="vi-VN" sz="4000" dirty="0"/>
          </a:p>
        </p:txBody>
      </p:sp>
      <p:pic>
        <p:nvPicPr>
          <p:cNvPr id="4098" name="Picture 2" descr="Năng Lượng Gió Là Gì? Ưu Điểm, Nhược Điểm, Ứng Dụn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43920" y="2052638"/>
            <a:ext cx="5265936" cy="41957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Năng lượng nước là gì? Tầm quan trọng của năng lượng nướ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402" y="1958543"/>
            <a:ext cx="5461193"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6" descr="Năng lượng địa nhiệt: Tiềm năng tại Việt Nam - Choi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AutoShape 8" descr="Năng lượng địa nhiệt: Tiềm năng tại Việt Nam - Choic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6" name="Picture 5"/>
          <p:cNvPicPr>
            <a:picLocks noChangeAspect="1"/>
          </p:cNvPicPr>
          <p:nvPr/>
        </p:nvPicPr>
        <p:blipFill>
          <a:blip r:embed="rId4"/>
          <a:stretch>
            <a:fillRect/>
          </a:stretch>
        </p:blipFill>
        <p:spPr>
          <a:xfrm>
            <a:off x="3365401" y="1958543"/>
            <a:ext cx="5461194" cy="4351338"/>
          </a:xfrm>
          <a:prstGeom prst="rect">
            <a:avLst/>
          </a:prstGeom>
        </p:spPr>
      </p:pic>
      <p:pic>
        <p:nvPicPr>
          <p:cNvPr id="7" name="Picture 6"/>
          <p:cNvPicPr>
            <a:picLocks noChangeAspect="1"/>
          </p:cNvPicPr>
          <p:nvPr/>
        </p:nvPicPr>
        <p:blipFill>
          <a:blip r:embed="rId5"/>
          <a:stretch>
            <a:fillRect/>
          </a:stretch>
        </p:blipFill>
        <p:spPr>
          <a:xfrm>
            <a:off x="3365401" y="1958543"/>
            <a:ext cx="5461194" cy="4351338"/>
          </a:xfrm>
          <a:prstGeom prst="rect">
            <a:avLst/>
          </a:prstGeom>
        </p:spPr>
      </p:pic>
    </p:spTree>
    <p:extLst>
      <p:ext uri="{BB962C8B-B14F-4D97-AF65-F5344CB8AC3E}">
        <p14:creationId xmlns:p14="http://schemas.microsoft.com/office/powerpoint/2010/main" val="23384147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00"/>
                                        </p:tgtEl>
                                        <p:attrNameLst>
                                          <p:attrName>style.visibility</p:attrName>
                                        </p:attrNameLst>
                                      </p:cBhvr>
                                      <p:to>
                                        <p:strVal val="visible"/>
                                      </p:to>
                                    </p:set>
                                    <p:anim calcmode="lin" valueType="num">
                                      <p:cBhvr additive="base">
                                        <p:cTn id="13" dur="500" fill="hold"/>
                                        <p:tgtEl>
                                          <p:spTgt spid="4100"/>
                                        </p:tgtEl>
                                        <p:attrNameLst>
                                          <p:attrName>ppt_x</p:attrName>
                                        </p:attrNameLst>
                                      </p:cBhvr>
                                      <p:tavLst>
                                        <p:tav tm="0">
                                          <p:val>
                                            <p:strVal val="#ppt_x"/>
                                          </p:val>
                                        </p:tav>
                                        <p:tav tm="100000">
                                          <p:val>
                                            <p:strVal val="#ppt_x"/>
                                          </p:val>
                                        </p:tav>
                                      </p:tavLst>
                                    </p:anim>
                                    <p:anim calcmode="lin" valueType="num">
                                      <p:cBhvr additive="base">
                                        <p:cTn id="14" dur="500" fill="hold"/>
                                        <p:tgtEl>
                                          <p:spTgt spid="41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smtClean="0"/>
              <a:t>ƯU ĐIỂM CỦA NĂNG LƯỢNG TÁI TẠO:</a:t>
            </a:r>
            <a:r>
              <a:rPr lang="vi-VN" dirty="0" smtClean="0"/>
              <a:t/>
            </a:r>
            <a:br>
              <a:rPr lang="vi-VN" dirty="0" smtClean="0"/>
            </a:br>
            <a:endParaRPr lang="vi-VN" dirty="0"/>
          </a:p>
        </p:txBody>
      </p:sp>
      <p:sp>
        <p:nvSpPr>
          <p:cNvPr id="4" name="Content Placeholder 3"/>
          <p:cNvSpPr>
            <a:spLocks noGrp="1"/>
          </p:cNvSpPr>
          <p:nvPr>
            <p:ph idx="1"/>
          </p:nvPr>
        </p:nvSpPr>
        <p:spPr/>
        <p:txBody>
          <a:bodyPr>
            <a:normAutofit/>
          </a:bodyPr>
          <a:lstStyle/>
          <a:p>
            <a:pPr marL="0" indent="0">
              <a:buNone/>
            </a:pPr>
            <a:r>
              <a:rPr lang="vi-VN" b="1" dirty="0" smtClean="0"/>
              <a:t>NGUỒN </a:t>
            </a:r>
            <a:r>
              <a:rPr lang="vi-VN" b="1" dirty="0"/>
              <a:t>CUNG VÔ TẬN</a:t>
            </a:r>
            <a:endParaRPr lang="vi-VN" dirty="0"/>
          </a:p>
          <a:p>
            <a:pPr marL="0" indent="0">
              <a:buNone/>
            </a:pPr>
            <a:r>
              <a:rPr lang="vi-VN" b="1" dirty="0"/>
              <a:t>THÂN THIỆN VỚI MÔI TRƯỜNG</a:t>
            </a:r>
            <a:endParaRPr lang="vi-VN" dirty="0"/>
          </a:p>
          <a:p>
            <a:pPr marL="0" indent="0">
              <a:buNone/>
            </a:pPr>
            <a:r>
              <a:rPr lang="vi-VN" b="1" dirty="0"/>
              <a:t>CHI PHÍ NHIÊN LIỆU BẰNG KHÔNG</a:t>
            </a:r>
            <a:endParaRPr lang="vi-VN" dirty="0"/>
          </a:p>
          <a:p>
            <a:pPr marL="0" indent="0">
              <a:buNone/>
            </a:pPr>
            <a:r>
              <a:rPr lang="vi-VN" b="1" dirty="0"/>
              <a:t>THÚC ĐẨY KINH TẾ VÀ VIỆC LÀM</a:t>
            </a:r>
            <a:endParaRPr lang="vi-VN" dirty="0"/>
          </a:p>
          <a:p>
            <a:pPr marL="0" indent="0">
              <a:buNone/>
            </a:pPr>
            <a:r>
              <a:rPr lang="vi-VN" b="1" dirty="0"/>
              <a:t>PHÁT TRIỂN VÙNG SÂU VÙNG XA</a:t>
            </a:r>
            <a:endParaRPr lang="vi-VN" dirty="0"/>
          </a:p>
          <a:p>
            <a:pPr marL="0" indent="0">
              <a:buNone/>
            </a:pPr>
            <a:endParaRPr lang="vi-VN" dirty="0"/>
          </a:p>
        </p:txBody>
      </p:sp>
    </p:spTree>
    <p:extLst>
      <p:ext uri="{BB962C8B-B14F-4D97-AF65-F5344CB8AC3E}">
        <p14:creationId xmlns:p14="http://schemas.microsoft.com/office/powerpoint/2010/main" val="37035732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smtClean="0"/>
              <a:t>NHƯỢC ĐIỂM CỦA NĂNG LƯỢNG TÁI TẠO:</a:t>
            </a:r>
            <a:r>
              <a:rPr lang="vi-VN" dirty="0" smtClean="0"/>
              <a:t/>
            </a:r>
            <a:br>
              <a:rPr lang="vi-VN" dirty="0" smtClean="0"/>
            </a:br>
            <a:endParaRPr lang="vi-VN" dirty="0"/>
          </a:p>
        </p:txBody>
      </p:sp>
      <p:sp>
        <p:nvSpPr>
          <p:cNvPr id="3" name="Content Placeholder 2"/>
          <p:cNvSpPr>
            <a:spLocks noGrp="1"/>
          </p:cNvSpPr>
          <p:nvPr>
            <p:ph idx="1"/>
          </p:nvPr>
        </p:nvSpPr>
        <p:spPr/>
        <p:txBody>
          <a:bodyPr/>
          <a:lstStyle/>
          <a:p>
            <a:pPr marL="0" indent="0">
              <a:buNone/>
            </a:pPr>
            <a:r>
              <a:rPr lang="vi-VN" b="1" dirty="0" smtClean="0"/>
              <a:t>TÍNH ỔN ĐỊNH THẤP</a:t>
            </a:r>
            <a:endParaRPr lang="vi-VN" dirty="0" smtClean="0"/>
          </a:p>
          <a:p>
            <a:pPr marL="0" indent="0">
              <a:buNone/>
            </a:pPr>
            <a:r>
              <a:rPr lang="vi-VN" b="1" dirty="0" smtClean="0"/>
              <a:t>CHI PHÍ ĐẦU TƯ BAN ĐẦU CAO</a:t>
            </a:r>
            <a:endParaRPr lang="vi-VN" dirty="0" smtClean="0"/>
          </a:p>
          <a:p>
            <a:pPr marL="0" indent="0">
              <a:buNone/>
            </a:pPr>
            <a:r>
              <a:rPr lang="vi-VN" b="1" dirty="0" smtClean="0"/>
              <a:t>YÊU CẦU KHÔNG GIAN LỚN</a:t>
            </a:r>
            <a:endParaRPr lang="vi-VN" dirty="0" smtClean="0"/>
          </a:p>
          <a:p>
            <a:pPr marL="0" indent="0">
              <a:buNone/>
            </a:pPr>
            <a:r>
              <a:rPr lang="vi-VN" b="1" dirty="0" smtClean="0"/>
              <a:t>VẤN ĐỀ XỬ LÝ CHẤT THẢI CÔNG NGHỆ</a:t>
            </a:r>
            <a:endParaRPr lang="vi-VN" dirty="0" smtClean="0"/>
          </a:p>
          <a:p>
            <a:pPr marL="0" indent="0">
              <a:buNone/>
            </a:pPr>
            <a:r>
              <a:rPr lang="vi-VN" b="1" dirty="0" smtClean="0"/>
              <a:t>THÁCH THỨC CHO HỆ THỐNG LƯỚI ĐIỆN</a:t>
            </a:r>
            <a:endParaRPr lang="vi-VN" dirty="0" smtClean="0"/>
          </a:p>
          <a:p>
            <a:endParaRPr lang="vi-VN" dirty="0"/>
          </a:p>
        </p:txBody>
      </p:sp>
    </p:spTree>
    <p:extLst>
      <p:ext uri="{BB962C8B-B14F-4D97-AF65-F5344CB8AC3E}">
        <p14:creationId xmlns:p14="http://schemas.microsoft.com/office/powerpoint/2010/main" val="19483816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vi-VN" dirty="0" smtClean="0"/>
              <a:t>Loại năng lượng sẽ thay thế cho xăng dầu hiện được sử dụng cho ô tô, xe máy:</a:t>
            </a:r>
            <a:endParaRPr lang="vi-VN" dirty="0"/>
          </a:p>
        </p:txBody>
      </p:sp>
      <p:sp>
        <p:nvSpPr>
          <p:cNvPr id="3" name="Content Placeholder 2"/>
          <p:cNvSpPr>
            <a:spLocks noGrp="1"/>
          </p:cNvSpPr>
          <p:nvPr>
            <p:ph idx="1"/>
          </p:nvPr>
        </p:nvSpPr>
        <p:spPr/>
        <p:txBody>
          <a:bodyPr/>
          <a:lstStyle/>
          <a:p>
            <a:pPr marL="0" indent="0">
              <a:buNone/>
            </a:pPr>
            <a:r>
              <a:rPr lang="vi-VN" sz="3600" dirty="0" smtClean="0"/>
              <a:t>Điện năng</a:t>
            </a:r>
          </a:p>
          <a:p>
            <a:pPr marL="0" indent="0">
              <a:buNone/>
            </a:pPr>
            <a:endParaRPr lang="vi-VN" sz="3600" dirty="0" smtClean="0"/>
          </a:p>
          <a:p>
            <a:pPr marL="0" indent="0">
              <a:buNone/>
            </a:pPr>
            <a:endParaRPr lang="vi-VN" sz="3600" dirty="0"/>
          </a:p>
          <a:p>
            <a:pPr marL="0" indent="0">
              <a:buNone/>
            </a:pPr>
            <a:endParaRPr lang="vi-VN" sz="3600" dirty="0" smtClean="0"/>
          </a:p>
          <a:p>
            <a:pPr marL="0" indent="0">
              <a:buNone/>
            </a:pPr>
            <a:endParaRPr lang="vi-VN" sz="3600" dirty="0" smtClean="0"/>
          </a:p>
          <a:p>
            <a:pPr marL="0" indent="0">
              <a:buNone/>
            </a:pPr>
            <a:r>
              <a:rPr lang="vi-VN" sz="3600" dirty="0" smtClean="0"/>
              <a:t>Năng lượng Hydro</a:t>
            </a:r>
            <a:endParaRPr lang="vi-VN" sz="3600" dirty="0"/>
          </a:p>
          <a:p>
            <a:endParaRPr lang="vi-VN" dirty="0" smtClean="0"/>
          </a:p>
          <a:p>
            <a:endParaRPr lang="vi-VN" dirty="0"/>
          </a:p>
          <a:p>
            <a:endParaRPr lang="vi-VN" dirty="0"/>
          </a:p>
        </p:txBody>
      </p:sp>
      <p:pic>
        <p:nvPicPr>
          <p:cNvPr id="6146" name="Picture 2" descr="Điện năng là gì? Cách sử dụng điện năng hiệu quả và tiết kiệ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25625"/>
            <a:ext cx="4005680" cy="235173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ăm điều cần biết về năng lượng hydro | Tạp chí Năng lượng Việt N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506261"/>
            <a:ext cx="4005680" cy="2351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26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 calcmode="lin" valueType="num">
                                      <p:cBhvr additive="base">
                                        <p:cTn id="13" dur="500" fill="hold"/>
                                        <p:tgtEl>
                                          <p:spTgt spid="6146"/>
                                        </p:tgtEl>
                                        <p:attrNameLst>
                                          <p:attrName>ppt_x</p:attrName>
                                        </p:attrNameLst>
                                      </p:cBhvr>
                                      <p:tavLst>
                                        <p:tav tm="0">
                                          <p:val>
                                            <p:strVal val="#ppt_x"/>
                                          </p:val>
                                        </p:tav>
                                        <p:tav tm="100000">
                                          <p:val>
                                            <p:strVal val="#ppt_x"/>
                                          </p:val>
                                        </p:tav>
                                      </p:tavLst>
                                    </p:anim>
                                    <p:anim calcmode="lin" valueType="num">
                                      <p:cBhvr additive="base">
                                        <p:cTn id="14"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148"/>
                                        </p:tgtEl>
                                        <p:attrNameLst>
                                          <p:attrName>style.visibility</p:attrName>
                                        </p:attrNameLst>
                                      </p:cBhvr>
                                      <p:to>
                                        <p:strVal val="visible"/>
                                      </p:to>
                                    </p:set>
                                    <p:anim calcmode="lin" valueType="num">
                                      <p:cBhvr additive="base">
                                        <p:cTn id="25" dur="500" fill="hold"/>
                                        <p:tgtEl>
                                          <p:spTgt spid="6148"/>
                                        </p:tgtEl>
                                        <p:attrNameLst>
                                          <p:attrName>ppt_x</p:attrName>
                                        </p:attrNameLst>
                                      </p:cBhvr>
                                      <p:tavLst>
                                        <p:tav tm="0">
                                          <p:val>
                                            <p:strVal val="#ppt_x"/>
                                          </p:val>
                                        </p:tav>
                                        <p:tav tm="100000">
                                          <p:val>
                                            <p:strVal val="#ppt_x"/>
                                          </p:val>
                                        </p:tav>
                                      </p:tavLst>
                                    </p:anim>
                                    <p:anim calcmode="lin" valueType="num">
                                      <p:cBhvr additive="base">
                                        <p:cTn id="26"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47" y="332645"/>
            <a:ext cx="9404723" cy="1400530"/>
          </a:xfrm>
        </p:spPr>
        <p:txBody>
          <a:bodyPr>
            <a:normAutofit fontScale="90000"/>
          </a:bodyPr>
          <a:lstStyle/>
          <a:p>
            <a:r>
              <a:rPr lang="vi-VN" dirty="0" smtClean="0"/>
              <a:t>nếu được quyết định thiết kế một nhà máy điện, em sẽ chọn năng lượng mặt trời để sản xuất điện vì:</a:t>
            </a:r>
            <a:endParaRPr lang="vi-VN" dirty="0"/>
          </a:p>
        </p:txBody>
      </p:sp>
      <p:sp>
        <p:nvSpPr>
          <p:cNvPr id="3" name="Content Placeholder 2"/>
          <p:cNvSpPr>
            <a:spLocks noGrp="1"/>
          </p:cNvSpPr>
          <p:nvPr>
            <p:ph idx="1"/>
          </p:nvPr>
        </p:nvSpPr>
        <p:spPr/>
        <p:txBody>
          <a:bodyPr/>
          <a:lstStyle/>
          <a:p>
            <a:r>
              <a:rPr lang="vi-VN" sz="4000" dirty="0"/>
              <a:t>1. Thời gian xây dựng siêu </a:t>
            </a:r>
            <a:r>
              <a:rPr lang="vi-VN" sz="4000" dirty="0" smtClean="0"/>
              <a:t>nhanh</a:t>
            </a:r>
          </a:p>
          <a:p>
            <a:r>
              <a:rPr lang="vi-VN" sz="4000" dirty="0"/>
              <a:t>2. Chi phí công nghệ ngày càng </a:t>
            </a:r>
            <a:r>
              <a:rPr lang="vi-VN" sz="4000" dirty="0" smtClean="0"/>
              <a:t>rẻ</a:t>
            </a:r>
          </a:p>
          <a:p>
            <a:r>
              <a:rPr lang="vi-VN" sz="4000" dirty="0"/>
              <a:t>3. Vận hành cực kỳ dễ dàng và yên </a:t>
            </a:r>
            <a:r>
              <a:rPr lang="vi-VN" sz="4000" dirty="0" smtClean="0"/>
              <a:t>tĩnh</a:t>
            </a:r>
          </a:p>
          <a:p>
            <a:r>
              <a:rPr lang="vi-VN" sz="4000" dirty="0"/>
              <a:t>4. Tính linh hoạt và mô-đun hóa</a:t>
            </a:r>
          </a:p>
          <a:p>
            <a:endParaRPr lang="vi-VN" dirty="0"/>
          </a:p>
        </p:txBody>
      </p:sp>
    </p:spTree>
    <p:extLst>
      <p:ext uri="{BB962C8B-B14F-4D97-AF65-F5344CB8AC3E}">
        <p14:creationId xmlns:p14="http://schemas.microsoft.com/office/powerpoint/2010/main" val="53409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263" y="2937875"/>
            <a:ext cx="12994105" cy="2425566"/>
          </a:xfrm>
        </p:spPr>
        <p:txBody>
          <a:bodyPr/>
          <a:lstStyle/>
          <a:p>
            <a:pPr algn="ctr"/>
            <a:r>
              <a:rPr lang="vi-VN" sz="5400" dirty="0"/>
              <a:t>Cảm ơn thầy cô và các bạn đã theo dõi!</a:t>
            </a:r>
          </a:p>
        </p:txBody>
      </p:sp>
      <p:sp>
        <p:nvSpPr>
          <p:cNvPr id="3" name="Content Placeholder 2"/>
          <p:cNvSpPr>
            <a:spLocks noGrp="1"/>
          </p:cNvSpPr>
          <p:nvPr>
            <p:ph idx="1"/>
          </p:nvPr>
        </p:nvSpPr>
        <p:spPr/>
        <p:txBody>
          <a:bodyPr/>
          <a:lstStyle/>
          <a:p>
            <a:endParaRPr lang="vi-VN" dirty="0"/>
          </a:p>
        </p:txBody>
      </p:sp>
    </p:spTree>
    <p:extLst>
      <p:ext uri="{BB962C8B-B14F-4D97-AF65-F5344CB8AC3E}">
        <p14:creationId xmlns:p14="http://schemas.microsoft.com/office/powerpoint/2010/main" val="376138671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35</TotalTime>
  <Words>252</Words>
  <Application>Microsoft Office PowerPoint</Application>
  <PresentationFormat>Widescreen</PresentationFormat>
  <Paragraphs>31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Times New Roman</vt:lpstr>
      <vt:lpstr>Wingdings 3</vt:lpstr>
      <vt:lpstr>Ion</vt:lpstr>
      <vt:lpstr>PowerPoint Presentation</vt:lpstr>
      <vt:lpstr>PowerPoint Presentation</vt:lpstr>
      <vt:lpstr>PowerPoint Presentation</vt:lpstr>
      <vt:lpstr>PowerPoint Presentation</vt:lpstr>
      <vt:lpstr>1.Năng lượng tái tạo là gì?</vt:lpstr>
      <vt:lpstr>Một số loại năng lượng tái tạo phổ biến:</vt:lpstr>
      <vt:lpstr>ƯU ĐIỂM CỦA NĂNG LƯỢNG TÁI TẠO: </vt:lpstr>
      <vt:lpstr>NHƯỢC ĐIỂM CỦA NĂNG LƯỢNG TÁI TẠO: </vt:lpstr>
      <vt:lpstr>Loại năng lượng sẽ thay thế cho xăng dầu hiện được sử dụng cho ô tô, xe máy:</vt:lpstr>
      <vt:lpstr>nếu được quyết định thiết kế một nhà máy điện, em sẽ chọn năng lượng mặt trời để sản xuất điện vì:</vt:lpstr>
      <vt:lpstr>Cảm ơn thầy cô và các bạn đã theo dõi!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huyen</dc:creator>
  <cp:lastModifiedBy>pham huyen</cp:lastModifiedBy>
  <cp:revision>5</cp:revision>
  <dcterms:created xsi:type="dcterms:W3CDTF">2026-10-11T15:21:44Z</dcterms:created>
  <dcterms:modified xsi:type="dcterms:W3CDTF">2026-10-11T15:56:51Z</dcterms:modified>
</cp:coreProperties>
</file>